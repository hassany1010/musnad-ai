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مُسنَد | MUSNAD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محرك ذكي للتحقق من المحتوى الإسلامي وتتبع الأدلة الشرعية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المسار: أدوات المعرفة والتحقق لتمكين المعرفين بالإسلام</a:t>
            </a:r>
          </a:p>
          <a:p>
            <a:pPr algn="r">
              <a:defRPr lang="ar-SA"/>
            </a:pPr>
            <a:r>
              <a:t>تحدي الذكاء الاصطناعي في خدمة المحتوى الإسلامي 2026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المطور: حسن محمد بارفعه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تحديات الموثوقية والمصداقية (المشكلة)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فوضى رقمية: انتشار متسارع للاقتباسات والأحاديث الضعيفة والمكذوبة دون سند.</a:t>
            </a:r>
          </a:p>
          <a:p>
            <a:pPr algn="r">
              <a:defRPr lang="ar-SA"/>
            </a:pPr>
            <a:r>
              <a:t>• هلوسة تقنية: نماذج الذكاء الاصطناعي التوليدي تختلق نصوصاً وأسانيد لا وجود لها.</a:t>
            </a:r>
          </a:p>
          <a:p>
            <a:pPr algn="r">
              <a:defRPr lang="ar-SA"/>
            </a:pPr>
            <a:r>
              <a:t>• فتاوى آلية غير منضبطة: توليد أحكام فقهية قطعية في مسائل خلافية واجتهادية.</a:t>
            </a:r>
          </a:p>
          <a:p>
            <a:pPr algn="r">
              <a:defRPr lang="ar-SA"/>
            </a:pPr>
            <a:r>
              <a:t>• استنزاف الوقت: معاناة الباحثين والمترجمين في التثبت والتخريج الدقيق من المراجع المعتمدة.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الحل المبتكر: مُسنَد (Evidence Engine)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محرك تدقيق حتمي مغلق (Deterministic Verification Engine).</a:t>
            </a:r>
          </a:p>
          <a:p>
            <a:pPr algn="r">
              <a:defRPr lang="ar-SA"/>
            </a:pPr>
            <a:r>
              <a:t>• تفكيك النصوص آلياً إلى ادعاءات ذرية قابلة للقياس والإسناد المصدري.</a:t>
            </a:r>
          </a:p>
          <a:p>
            <a:pPr algn="r">
              <a:defRPr lang="ar-SA"/>
            </a:pPr>
            <a:r>
              <a:t>• التحقق الحصري من قاعدة معرفة موثقة خالية من الهلوسة بنسبة 100%.</a:t>
            </a:r>
          </a:p>
          <a:p>
            <a:pPr algn="r">
              <a:defRPr lang="ar-SA"/>
            </a:pPr>
            <a:r>
              <a:t>• الامتناع الآمن (Safe Abstention) والإحالة للمختصين بدلاً من الفتوى التلقائية.</a:t>
            </a:r>
          </a:p>
          <a:p>
            <a:pPr algn="r">
              <a:defRPr lang="ar-SA"/>
            </a:pPr>
            <a:r>
              <a:t>• واجهة استعلام متقدمة تعرض تباين الروايات والفروق اللفظية بشفافية كاملة.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دورة التحقق والتدقيق (Workflow)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1. استقبال المحتوى: معالجة النصوص والاقتباسات والادعاءات الدينية.</a:t>
            </a:r>
          </a:p>
          <a:p>
            <a:pPr algn="r">
              <a:defRPr lang="ar-SA"/>
            </a:pPr>
            <a:r>
              <a:t>2. استخراج الادعاءات: تجزئة المحتوى وتصنيفه (آية، حديث، قول، مسألة فقهية).</a:t>
            </a:r>
          </a:p>
          <a:p>
            <a:pPr algn="r">
              <a:defRPr lang="ar-SA"/>
            </a:pPr>
            <a:r>
              <a:t>3. التطبيع اللغوي العربي: معالجة الهمزات، حذف التشكيل والتطويل، لضمان أعلى دقة.</a:t>
            </a:r>
          </a:p>
          <a:p>
            <a:pPr algn="r">
              <a:defRPr lang="ar-SA"/>
            </a:pPr>
            <a:r>
              <a:t>4. الاسترجاع الهجين (Hybrid RAG): مطابقة نصية دقيقة وبحث معجمي BM25 فائق السرعة.</a:t>
            </a:r>
          </a:p>
          <a:p>
            <a:pPr algn="r">
              <a:defRPr lang="ar-SA"/>
            </a:pPr>
            <a:r>
              <a:t>5. التحقق بقواعد حتمية: مقارنة الادعاء بالشاهد المعتمد مع منع الـ LLM من القرار.</a:t>
            </a:r>
          </a:p>
          <a:p>
            <a:pPr algn="r">
              <a:defRPr lang="ar-SA"/>
            </a:pPr>
            <a:r>
              <a:t>6. المخرجات وسجل التدقيق: عرض الحكم، التخريج، الشاهد، وبصمة التشفير (SHA-256).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الميزة التنافسية والسلامة العلمية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قاعدة (Claim → Evidence → Deterministic Status): القرار برمجي قطعي 100%.</a:t>
            </a:r>
          </a:p>
          <a:p>
            <a:pPr algn="r">
              <a:defRPr lang="ar-SA"/>
            </a:pPr>
            <a:r>
              <a:t>• سياسة انعدام الفتوى (Zero-Fatwa Policy): الإحالة التلقائية في المسائل المعاصرة.</a:t>
            </a:r>
          </a:p>
          <a:p>
            <a:pPr algn="r">
              <a:defRPr lang="ar-SA"/>
            </a:pPr>
            <a:r>
              <a:t>• منع الهلوسة بنسبة 100%: امتناع كامل عند غياب الشاهد المعتمد (Safe Abstention).</a:t>
            </a:r>
          </a:p>
          <a:p>
            <a:pPr algn="r">
              <a:defRPr lang="ar-SA"/>
            </a:pPr>
            <a:r>
              <a:t>• تحليل الفروق اللفظية (Textual Difference): رصد اختلاف الألفاظ والروايات بدقة.</a:t>
            </a:r>
          </a:p>
          <a:p>
            <a:pPr algn="r">
              <a:defRPr lang="ar-SA"/>
            </a:pPr>
            <a:r>
              <a:t>• سجل تدقيق مشفر بسلسلة كتل (Cryptographic Audit Log Chain) لحفظ النزاهة.</a:t>
            </a:r>
          </a:p>
          <a:p>
            <a:pPr algn="r">
              <a:defRPr lang="ar-SA"/>
            </a:pPr>
            <a:r>
              <a:t>• مناعة متقدمة ضد هجمات التلاعب وحقن الأوامر (Prompt Injection Defense).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البنية التقنية والمعمارية (Architecture)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الواجهة الأمامية: React 18 + TypeScript + Vite + Tailwind CSS (تصميم RTL فائق الجودة).</a:t>
            </a:r>
          </a:p>
          <a:p>
            <a:pPr algn="r">
              <a:defRPr lang="ar-SA"/>
            </a:pPr>
            <a:r>
              <a:t>• الواجهة البرمجية (API): FastAPI + Python 3.11 مع توثيق OpenAPI كامل.</a:t>
            </a:r>
          </a:p>
          <a:p>
            <a:pPr algn="r">
              <a:defRPr lang="ar-SA"/>
            </a:pPr>
            <a:r>
              <a:t>• محرك البحث والاسترجاع: Hybrid BM25Okapi + Substring Matching + RRF (k=60).</a:t>
            </a:r>
          </a:p>
          <a:p>
            <a:pPr algn="r">
              <a:defRPr lang="ar-SA"/>
            </a:pPr>
            <a:r>
              <a:t>• قاعدة البيانات: SQLite خفيفة عالية السرعة (مع توافق كامل مع pgvector في PostgreSQL).</a:t>
            </a:r>
          </a:p>
          <a:p>
            <a:pPr algn="r">
              <a:defRPr lang="ar-SA"/>
            </a:pPr>
            <a:r>
              <a:t>• المحتوى المفهرس: 48,475 سجلاً محققاً يشمل القرآن، الصحاح، السنن، والتفاسير.</a:t>
            </a:r>
          </a:p>
          <a:p>
            <a:pPr algn="r">
              <a:defRPr lang="ar-SA"/>
            </a:pPr>
            <a:r>
              <a:t>• الأداء: زمن استجابة متناهي الصغر (متوسط زمن التحقق ~4.5 مللي ثانية).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نموذج حي للتحقق (Live Verification Demo)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النص المدخل: «إنما الأعمال بالنيات وإنما لكل امرئ ما نوى...»</a:t>
            </a:r>
          </a:p>
          <a:p>
            <a:pPr algn="r">
              <a:defRPr lang="ar-SA"/>
            </a:pPr>
            <a:r>
              <a:t>• النتيجة الآلية: مدعوم بدليل قطعي بمطابقة تامة (Supported - Exact Match).</a:t>
            </a:r>
          </a:p>
          <a:p>
            <a:pPr algn="r">
              <a:defRPr lang="ar-SA"/>
            </a:pPr>
            <a:r>
              <a:t>• الشاهد المعتمد: حديث أمير المؤمنين عمر بن الخطاب رضي الله عنه.</a:t>
            </a:r>
          </a:p>
          <a:p>
            <a:pPr algn="r">
              <a:defRPr lang="ar-SA"/>
            </a:pPr>
            <a:r>
              <a:t>• التوثيق الدقيق: صحيح البخاري (كتاب بدء الوحي - حديث 1) / الأربعون النووية (حديث 1).</a:t>
            </a:r>
          </a:p>
          <a:p>
            <a:pPr algn="r">
              <a:defRPr lang="ar-SA"/>
            </a:pPr>
            <a:r>
              <a:t>• حالة ادعاء مكذوب: امتناع كامل وتصنيف (Insufficient Evidence) دون أي اختلاق.</a:t>
            </a:r>
          </a:p>
          <a:p>
            <a:pPr algn="r">
              <a:defRPr lang="ar-SA"/>
            </a:pPr>
            <a:r>
              <a:t>• حالة مسألة فقهية: إحالة للمختص (Specialist Referral) لحماية الضوابط الشرعية.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الفئات المستهدفة والأثر المستدام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المعرفون بالإسلام والجهات الدعوية: تقديم محتوى مترجم وموثق ببرهان قطعي.</a:t>
            </a:r>
          </a:p>
          <a:p>
            <a:pPr algn="r">
              <a:defRPr lang="ar-SA"/>
            </a:pPr>
            <a:r>
              <a:t>• الباحثون والمترجمون: اختصار ساعات طويلة من البحث وتخريج النصوص الشرعية.</a:t>
            </a:r>
          </a:p>
          <a:p>
            <a:pPr algn="r">
              <a:defRPr lang="ar-SA"/>
            </a:pPr>
            <a:r>
              <a:t>• منصات المحتوى الإسلامي: دمج محرك التدقيق عبر API كصمام أمان رقمي.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• الأثر المستدام:</a:t>
            </a:r>
          </a:p>
          <a:p>
            <a:pPr algn="r">
              <a:defRPr lang="ar-SA"/>
            </a:pPr>
            <a:r>
              <a:t>تعزيز الثقة في الفضاء الرقمي الإسلامي، محاصرة الشائعات والنسب غير الموثوقة، وتمكين التحول التقني الرشيد وفق مستهدفات رؤية المملكة 2030.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 b="1"/>
            </a:pPr>
            <a:r>
              <a:t>الخاتمة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مُسنَد — MUSNAD AI</a:t>
            </a:r>
          </a:p>
          <a:p>
            <a:pPr algn="r">
              <a:defRPr lang="ar-SA"/>
            </a:pPr>
            <a:r>
              <a:t>«محرك ذكي.. يحول الشبهة إلى تدقيق، والادعاء إلى برهان»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المشروع متكامل وجاهز للتشغيل والتقييم الحي (100% Offline Demo Ready)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المطور: حسن محمد بارفعه</a:t>
            </a:r>
          </a:p>
          <a:p>
            <a:pPr algn="r">
              <a:defRPr lang="ar-SA"/>
            </a:pPr>
            <a:r>
              <a:t>تحدي الذكاء الاصطناعي في خدمة المحتوى الإسلامي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